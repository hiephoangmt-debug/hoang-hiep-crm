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Heading Now 31-38 Bold" charset="1" panose="00000000000000000000"/>
      <p:regular r:id="rId34"/>
    </p:embeddedFont>
    <p:embeddedFont>
      <p:font typeface="Montserrat Bold Italics" charset="1" panose="00000800000000000000"/>
      <p:regular r:id="rId35"/>
    </p:embeddedFont>
    <p:embeddedFont>
      <p:font typeface="Google Sans Flex 120pt Bold" charset="1" panose="020B0503030502040204"/>
      <p:regular r:id="rId36"/>
    </p:embeddedFont>
    <p:embeddedFont>
      <p:font typeface="Montserrat" charset="1" panose="00000500000000000000"/>
      <p:regular r:id="rId37"/>
    </p:embeddedFont>
    <p:embeddedFont>
      <p:font typeface="Montserrat Bold" charset="1" panose="00000800000000000000"/>
      <p:regular r:id="rId38"/>
    </p:embeddedFont>
    <p:embeddedFont>
      <p:font typeface="Arimo Bold" charset="1" panose="020B070402020202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09114" y="4190519"/>
            <a:ext cx="2866417" cy="95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</a:pPr>
            <a:r>
              <a:rPr lang="en-US" b="true" sz="6000" u="sng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TUẦN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85870" y="5019554"/>
            <a:ext cx="6716260" cy="108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0"/>
              </a:lnSpc>
            </a:pPr>
            <a:r>
              <a:rPr lang="en-US" sz="5000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10.10.2026 - 16.10.2026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0" id="10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31779" y="2903950"/>
            <a:ext cx="12450414" cy="75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1"/>
              </a:lnSpc>
            </a:pPr>
            <a:r>
              <a:rPr lang="en-US" b="true" sz="4753" u="sng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NGÂN SÁCH TỔNG CÁC KÊNH TRIỂN KHAI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7069" y="3732439"/>
            <a:ext cx="4722942" cy="454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1511" indent="-420756" lvl="1">
              <a:lnSpc>
                <a:spcPts val="7327"/>
              </a:lnSpc>
              <a:buFont typeface="Arial"/>
              <a:buChar char="•"/>
            </a:pPr>
            <a:r>
              <a:rPr lang="en-US" sz="3897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Facebook:</a:t>
            </a:r>
          </a:p>
          <a:p>
            <a:pPr algn="l" marL="841511" indent="-420756" lvl="1">
              <a:lnSpc>
                <a:spcPts val="7327"/>
              </a:lnSpc>
              <a:buFont typeface="Arial"/>
              <a:buChar char="•"/>
            </a:pPr>
            <a:r>
              <a:rPr lang="en-US" sz="3897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Tiktok:</a:t>
            </a:r>
          </a:p>
          <a:p>
            <a:pPr algn="l" marL="841511" indent="-420756" lvl="1">
              <a:lnSpc>
                <a:spcPts val="7327"/>
              </a:lnSpc>
              <a:buFont typeface="Arial"/>
              <a:buChar char="•"/>
            </a:pPr>
            <a:r>
              <a:rPr lang="en-US" sz="3897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Zalo:</a:t>
            </a:r>
          </a:p>
          <a:p>
            <a:pPr algn="l" marL="841511" indent="-420756" lvl="1">
              <a:lnSpc>
                <a:spcPts val="7327"/>
              </a:lnSpc>
              <a:buFont typeface="Arial"/>
              <a:buChar char="•"/>
            </a:pPr>
            <a:r>
              <a:rPr lang="en-US" sz="3897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Google:</a:t>
            </a:r>
          </a:p>
          <a:p>
            <a:pPr algn="l" marL="841511" indent="-420756" lvl="1">
              <a:lnSpc>
                <a:spcPts val="7327"/>
              </a:lnSpc>
              <a:buFont typeface="Arial"/>
              <a:buChar char="•"/>
            </a:pPr>
            <a:r>
              <a:rPr lang="en-US" sz="3897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Đăng tin: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7" id="7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061652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24127" y="1847660"/>
          <a:ext cx="17839747" cy="8281111"/>
        </p:xfrm>
        <a:graphic>
          <a:graphicData uri="http://schemas.openxmlformats.org/drawingml/2006/table">
            <a:tbl>
              <a:tblPr/>
              <a:tblGrid>
                <a:gridCol w="1867541"/>
                <a:gridCol w="3194096"/>
                <a:gridCol w="1450962"/>
                <a:gridCol w="1399318"/>
                <a:gridCol w="1682563"/>
                <a:gridCol w="1510948"/>
                <a:gridCol w="1683580"/>
                <a:gridCol w="1683580"/>
                <a:gridCol w="1848541"/>
                <a:gridCol w="1518619"/>
              </a:tblGrid>
              <a:tr h="635932"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Tên S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àn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Tên Nhân sự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gridSpan="8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ATA MKT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ATA MKT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ATA MKT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ATA MKT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ATA MKT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ATA MKT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ATA MKT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ATA MKT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</a:tr>
              <a:tr h="635932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Tên S</a:t>
                      </a: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àn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Tên Nhân sự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99"/>
                    </a:solidFill>
                  </a:tcPr>
                </a:tc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Casamia Balanca Hoi An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771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Casamia Balanca Hoi An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771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Casamia Balanca Hoi An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771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Casamia Balanca Hoi An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7713"/>
                    </a:solidFill>
                  </a:tcPr>
                </a:tc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Sun Căn Hộ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Sun Căn Hộ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Sun Căn Hộ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Sun Căn Hộ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6289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Lead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MQL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SQL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Deal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Lead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MQL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SQL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Deal 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rowSpan="9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Nguyễn Văn A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r>
                        <a:rPr lang="en-US" sz="17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10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-----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638031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Tổng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Tổng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FFDE59">
                            <a:alpha val="100000"/>
                          </a:srgbClr>
                        </a:gs>
                        <a:gs pos="100000">
                          <a:srgbClr val="FF914D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24127" y="923925"/>
            <a:ext cx="7789163" cy="92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9"/>
              </a:lnSpc>
            </a:pPr>
            <a:r>
              <a:rPr lang="en-US" b="true" sz="5378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REVIEW KẾT QUẢ SÀN: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3405" y="373750"/>
            <a:ext cx="17001190" cy="410384"/>
            <a:chOff x="0" y="0"/>
            <a:chExt cx="22668253" cy="547179"/>
          </a:xfrm>
        </p:grpSpPr>
        <p:sp>
          <p:nvSpPr>
            <p:cNvPr name="AutoShape 6" id="6"/>
            <p:cNvSpPr/>
            <p:nvPr/>
          </p:nvSpPr>
          <p:spPr>
            <a:xfrm>
              <a:off x="0" y="534479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030968" y="66401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478047" y="-15626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9157922" y="0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536712" y="-22076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7215"/>
              <a:ext cx="2704279" cy="41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9"/>
                </a:lnSpc>
              </a:pPr>
              <a:r>
                <a:rPr lang="en-US" sz="1864" b="true">
                  <a:solidFill>
                    <a:srgbClr val="BD010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BÁO CÁO TUẦN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318236" y="3897713"/>
          <a:ext cx="15941064" cy="3697842"/>
        </p:xfrm>
        <a:graphic>
          <a:graphicData uri="http://schemas.openxmlformats.org/drawingml/2006/table">
            <a:tbl>
              <a:tblPr/>
              <a:tblGrid>
                <a:gridCol w="1451636"/>
                <a:gridCol w="2342797"/>
                <a:gridCol w="1698922"/>
                <a:gridCol w="3022658"/>
                <a:gridCol w="1320015"/>
                <a:gridCol w="1320015"/>
                <a:gridCol w="1726959"/>
                <a:gridCol w="1529031"/>
                <a:gridCol w="1529031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Nền tảng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 thực chạy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Chi phí thực chạy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+ gồm phí nền tảng)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quan tâm 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tiềm năng)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318236" y="2834609"/>
            <a:ext cx="7845934" cy="93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3"/>
              </a:lnSpc>
            </a:pPr>
            <a:r>
              <a:rPr lang="en-US" b="true" sz="5874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BÁO CÁO TỔNG SÀN: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29810" y="5913641"/>
            <a:ext cx="873451" cy="873451"/>
          </a:xfrm>
          <a:custGeom>
            <a:avLst/>
            <a:gdLst/>
            <a:ahLst/>
            <a:cxnLst/>
            <a:rect r="r" b="b" t="t" l="l"/>
            <a:pathLst>
              <a:path h="873451" w="873451">
                <a:moveTo>
                  <a:pt x="0" y="0"/>
                </a:moveTo>
                <a:lnTo>
                  <a:pt x="873451" y="0"/>
                </a:lnTo>
                <a:lnTo>
                  <a:pt x="873451" y="873451"/>
                </a:lnTo>
                <a:lnTo>
                  <a:pt x="0" y="873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7" id="7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7624" y="5822427"/>
            <a:ext cx="999888" cy="999888"/>
          </a:xfrm>
          <a:custGeom>
            <a:avLst/>
            <a:gdLst/>
            <a:ahLst/>
            <a:cxnLst/>
            <a:rect r="r" b="b" t="t" l="l"/>
            <a:pathLst>
              <a:path h="999888" w="999888">
                <a:moveTo>
                  <a:pt x="0" y="0"/>
                </a:moveTo>
                <a:lnTo>
                  <a:pt x="999888" y="0"/>
                </a:lnTo>
                <a:lnTo>
                  <a:pt x="999888" y="999888"/>
                </a:lnTo>
                <a:lnTo>
                  <a:pt x="0" y="9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3468" y="2846399"/>
            <a:ext cx="12976100" cy="93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3"/>
              </a:lnSpc>
            </a:pPr>
            <a:r>
              <a:rPr lang="en-US" b="true" sz="5874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BÁO CÁO TỔNG SÀN: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6" id="6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318236" y="3897713"/>
          <a:ext cx="15941064" cy="3697842"/>
        </p:xfrm>
        <a:graphic>
          <a:graphicData uri="http://schemas.openxmlformats.org/drawingml/2006/table">
            <a:tbl>
              <a:tblPr/>
              <a:tblGrid>
                <a:gridCol w="1451636"/>
                <a:gridCol w="2342797"/>
                <a:gridCol w="1698922"/>
                <a:gridCol w="3022658"/>
                <a:gridCol w="1320015"/>
                <a:gridCol w="1320015"/>
                <a:gridCol w="1726959"/>
                <a:gridCol w="1529031"/>
                <a:gridCol w="1529031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Nền tảng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 thực chạy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Chi phí thực chạy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+ gồm phí nền tảng)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quan tâm 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tiềm năng)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243" y="2271510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2243" y="6115343"/>
            <a:ext cx="988239" cy="988239"/>
          </a:xfrm>
          <a:custGeom>
            <a:avLst/>
            <a:gdLst/>
            <a:ahLst/>
            <a:cxnLst/>
            <a:rect r="r" b="b" t="t" l="l"/>
            <a:pathLst>
              <a:path h="988239" w="988239">
                <a:moveTo>
                  <a:pt x="0" y="0"/>
                </a:moveTo>
                <a:lnTo>
                  <a:pt x="988239" y="0"/>
                </a:lnTo>
                <a:lnTo>
                  <a:pt x="988239" y="988239"/>
                </a:lnTo>
                <a:lnTo>
                  <a:pt x="0" y="988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001317"/>
            <a:ext cx="12976100" cy="93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3"/>
              </a:lnSpc>
            </a:pPr>
            <a:r>
              <a:rPr lang="en-US" b="true" sz="5874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BÁO CÁO TỔNG SÀN: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9" id="9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6892" r="0" b="-35946"/>
              </a:stretch>
            </a:blipFill>
          </p:spPr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22275" y="4266422"/>
          <a:ext cx="15941064" cy="3697842"/>
        </p:xfrm>
        <a:graphic>
          <a:graphicData uri="http://schemas.openxmlformats.org/drawingml/2006/table">
            <a:tbl>
              <a:tblPr/>
              <a:tblGrid>
                <a:gridCol w="1451636"/>
                <a:gridCol w="2342797"/>
                <a:gridCol w="1698922"/>
                <a:gridCol w="3022658"/>
                <a:gridCol w="1320015"/>
                <a:gridCol w="1320015"/>
                <a:gridCol w="1726959"/>
                <a:gridCol w="1529031"/>
                <a:gridCol w="1529031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Nền tảng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 thực chạy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Chi phí thực chạy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+ gồm phí nền tảng)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quan tâm 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tiềm năng)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1779" y="5968936"/>
            <a:ext cx="751556" cy="751556"/>
          </a:xfrm>
          <a:custGeom>
            <a:avLst/>
            <a:gdLst/>
            <a:ahLst/>
            <a:cxnLst/>
            <a:rect r="r" b="b" t="t" l="l"/>
            <a:pathLst>
              <a:path h="751556" w="751556">
                <a:moveTo>
                  <a:pt x="0" y="0"/>
                </a:moveTo>
                <a:lnTo>
                  <a:pt x="751557" y="0"/>
                </a:lnTo>
                <a:lnTo>
                  <a:pt x="751557" y="751556"/>
                </a:lnTo>
                <a:lnTo>
                  <a:pt x="0" y="751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73766" y="2621305"/>
            <a:ext cx="12976100" cy="93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3"/>
              </a:lnSpc>
            </a:pPr>
            <a:r>
              <a:rPr lang="en-US" b="true" sz="5874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BÁO CÁO TỔNG SÀN: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6" id="6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6892" r="0" b="-35946"/>
              </a:stretch>
            </a:blipFill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318236" y="3897713"/>
          <a:ext cx="15941064" cy="3697842"/>
        </p:xfrm>
        <a:graphic>
          <a:graphicData uri="http://schemas.openxmlformats.org/drawingml/2006/table">
            <a:tbl>
              <a:tblPr/>
              <a:tblGrid>
                <a:gridCol w="1451636"/>
                <a:gridCol w="2342797"/>
                <a:gridCol w="1698922"/>
                <a:gridCol w="3022658"/>
                <a:gridCol w="1320015"/>
                <a:gridCol w="1320015"/>
                <a:gridCol w="1726959"/>
                <a:gridCol w="1529031"/>
                <a:gridCol w="1529031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Nền tảng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 thực chạy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Chi phí thực chạy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+ gồm phí nền tảng)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CPL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b="true" sz="1200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quan tâm 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tiềm năng)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33335" y="4045197"/>
          <a:ext cx="17047193" cy="3697842"/>
        </p:xfrm>
        <a:graphic>
          <a:graphicData uri="http://schemas.openxmlformats.org/drawingml/2006/table">
            <a:tbl>
              <a:tblPr/>
              <a:tblGrid>
                <a:gridCol w="3335834"/>
                <a:gridCol w="3165833"/>
                <a:gridCol w="2295761"/>
                <a:gridCol w="1783743"/>
                <a:gridCol w="2333648"/>
                <a:gridCol w="2066187"/>
                <a:gridCol w="2066187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Kênh Đăng Tin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 đăng tin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MQL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quan tâm 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SQL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Khách hàng tiềm năng)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326"/>
                        </a:lnSpc>
                      </a:pPr>
                    </a:p>
                    <a:p>
                      <a:pPr algn="ctr">
                        <a:lnSpc>
                          <a:spcPts val="232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326"/>
                        </a:lnSpc>
                      </a:pPr>
                    </a:p>
                    <a:p>
                      <a:pPr algn="ctr">
                        <a:lnSpc>
                          <a:spcPts val="232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326"/>
                        </a:lnSpc>
                      </a:pPr>
                    </a:p>
                    <a:p>
                      <a:pPr algn="ctr">
                        <a:lnSpc>
                          <a:spcPts val="232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33335" y="3055757"/>
            <a:ext cx="12976100" cy="93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3"/>
              </a:lnSpc>
            </a:pPr>
            <a:r>
              <a:rPr lang="en-US" b="true" sz="5874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BÁO CÁO TỔNG SÀN: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6" id="6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34612" y="2860780"/>
            <a:ext cx="11578537" cy="968587"/>
            <a:chOff x="0" y="0"/>
            <a:chExt cx="15438049" cy="129144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76200"/>
              <a:ext cx="15438049" cy="1199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93"/>
                </a:lnSpc>
                <a:spcBef>
                  <a:spcPct val="0"/>
                </a:spcBef>
              </a:pPr>
              <a:r>
                <a:rPr lang="en-US" b="true" sz="5539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5539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1290279" y="1034616"/>
              <a:ext cx="4147770" cy="256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16"/>
                </a:lnSpc>
              </a:pPr>
              <a:r>
                <a:rPr lang="en-US" b="true" sz="1154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93774" y="3810316"/>
            <a:ext cx="9707381" cy="57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2"/>
              </a:lnSpc>
            </a:pPr>
            <a:r>
              <a:rPr lang="en-US" b="true" sz="3706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NGÂN SÁCH CÁC KÊNH TRIỂN KHAI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3551" y="4453536"/>
            <a:ext cx="3682399" cy="353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112" indent="-328056" lvl="1">
              <a:lnSpc>
                <a:spcPts val="5713"/>
              </a:lnSpc>
              <a:buFont typeface="Arial"/>
              <a:buChar char="•"/>
            </a:pPr>
            <a:r>
              <a:rPr lang="en-US" sz="3038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Facebook:</a:t>
            </a:r>
          </a:p>
          <a:p>
            <a:pPr algn="l" marL="656112" indent="-328056" lvl="1">
              <a:lnSpc>
                <a:spcPts val="5713"/>
              </a:lnSpc>
              <a:buFont typeface="Arial"/>
              <a:buChar char="•"/>
            </a:pPr>
            <a:r>
              <a:rPr lang="en-US" sz="3038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Tiktok:</a:t>
            </a:r>
          </a:p>
          <a:p>
            <a:pPr algn="l" marL="656112" indent="-328056" lvl="1">
              <a:lnSpc>
                <a:spcPts val="5713"/>
              </a:lnSpc>
              <a:buFont typeface="Arial"/>
              <a:buChar char="•"/>
            </a:pPr>
            <a:r>
              <a:rPr lang="en-US" sz="3038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Zalo:</a:t>
            </a:r>
          </a:p>
          <a:p>
            <a:pPr algn="l" marL="656112" indent="-328056" lvl="1">
              <a:lnSpc>
                <a:spcPts val="5713"/>
              </a:lnSpc>
              <a:buFont typeface="Arial"/>
              <a:buChar char="•"/>
            </a:pPr>
            <a:r>
              <a:rPr lang="en-US" sz="3038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Google:</a:t>
            </a:r>
          </a:p>
          <a:p>
            <a:pPr algn="l" marL="656112" indent="-328056" lvl="1">
              <a:lnSpc>
                <a:spcPts val="5713"/>
              </a:lnSpc>
              <a:buFont typeface="Arial"/>
              <a:buChar char="•"/>
            </a:pPr>
            <a:r>
              <a:rPr lang="en-US" sz="3038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Đăng tin: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93774" y="2762865"/>
            <a:ext cx="9707381" cy="57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2"/>
              </a:lnSpc>
            </a:pPr>
            <a:r>
              <a:rPr lang="en-US" b="true" sz="3706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NHÂN SỰ:.............................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1" id="11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15117" y="4877808"/>
            <a:ext cx="2057766" cy="2057766"/>
          </a:xfrm>
          <a:custGeom>
            <a:avLst/>
            <a:gdLst/>
            <a:ahLst/>
            <a:cxnLst/>
            <a:rect r="r" b="b" t="t" l="l"/>
            <a:pathLst>
              <a:path h="2057766" w="2057766">
                <a:moveTo>
                  <a:pt x="0" y="0"/>
                </a:moveTo>
                <a:lnTo>
                  <a:pt x="2057766" y="0"/>
                </a:lnTo>
                <a:lnTo>
                  <a:pt x="2057766" y="2057766"/>
                </a:lnTo>
                <a:lnTo>
                  <a:pt x="0" y="205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31114" y="3540871"/>
            <a:ext cx="5425771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FACEBOOK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0" id="10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56274" y="4151547"/>
          <a:ext cx="17417446" cy="3697842"/>
        </p:xfrm>
        <a:graphic>
          <a:graphicData uri="http://schemas.openxmlformats.org/drawingml/2006/table">
            <a:tbl>
              <a:tblPr/>
              <a:tblGrid>
                <a:gridCol w="1451454"/>
                <a:gridCol w="1451454"/>
                <a:gridCol w="1451454"/>
                <a:gridCol w="2368338"/>
                <a:gridCol w="1024814"/>
                <a:gridCol w="1514306"/>
                <a:gridCol w="1489165"/>
                <a:gridCol w="1501735"/>
                <a:gridCol w="1325750"/>
                <a:gridCol w="1174905"/>
                <a:gridCol w="1212616"/>
                <a:gridCol w="1451454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Nền tảng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 thực chạy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Chi phí thực chạy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+ gồm phí nền tảng)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Impressions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(hiển thị)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Reach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(tiếp cận)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Frequency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(tần suất)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Lượt nhấp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CTR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CPM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Lượt xem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56274" y="2855971"/>
            <a:ext cx="7829713" cy="116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FACEBOOK ADS: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3826" y="6118459"/>
            <a:ext cx="767953" cy="767953"/>
          </a:xfrm>
          <a:custGeom>
            <a:avLst/>
            <a:gdLst/>
            <a:ahLst/>
            <a:cxnLst/>
            <a:rect r="r" b="b" t="t" l="l"/>
            <a:pathLst>
              <a:path h="767953" w="767953">
                <a:moveTo>
                  <a:pt x="0" y="0"/>
                </a:moveTo>
                <a:lnTo>
                  <a:pt x="767953" y="0"/>
                </a:lnTo>
                <a:lnTo>
                  <a:pt x="767953" y="767954"/>
                </a:lnTo>
                <a:lnTo>
                  <a:pt x="0" y="767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7" id="7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8113" y="3158483"/>
            <a:ext cx="11730667" cy="5980190"/>
          </a:xfrm>
          <a:custGeom>
            <a:avLst/>
            <a:gdLst/>
            <a:ahLst/>
            <a:cxnLst/>
            <a:rect r="r" b="b" t="t" l="l"/>
            <a:pathLst>
              <a:path h="5980190" w="11730667">
                <a:moveTo>
                  <a:pt x="0" y="0"/>
                </a:moveTo>
                <a:lnTo>
                  <a:pt x="11730667" y="0"/>
                </a:lnTo>
                <a:lnTo>
                  <a:pt x="11730667" y="5980190"/>
                </a:lnTo>
                <a:lnTo>
                  <a:pt x="0" y="59801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5156" y="2179589"/>
            <a:ext cx="7988915" cy="77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50"/>
              </a:lnSpc>
            </a:pPr>
            <a:r>
              <a:rPr lang="en-US" b="true" sz="5000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FACEBOOK ADS: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92683" y="4513430"/>
            <a:ext cx="4984530" cy="369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</a:t>
            </a:r>
            <a:r>
              <a:rPr lang="en-US" b="true" sz="1982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Lưu ý cho capture Facebook ads:</a:t>
            </a: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Khoanh các mục sau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ID tài khoản quảng cáo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Search tên chiến dịch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Thời gian chạy 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Tổng số kết quả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Tổng số tiền đã chi tiêu</a:t>
            </a:r>
          </a:p>
          <a:p>
            <a:pPr algn="l">
              <a:lnSpc>
                <a:spcPts val="372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448800"/>
            <a:ext cx="9321700" cy="2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*Demo: Lưu ý chụp đầy đủ thông tin các chiến dich, đủ ID TK QC và NS trong kỳ báo cáo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89101" y="2610230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01894" y="4192339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09799" y="4078655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64986" y="8057607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94423" y="8057607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3" id="13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2900" y="2961654"/>
            <a:ext cx="10836686" cy="5550767"/>
          </a:xfrm>
          <a:custGeom>
            <a:avLst/>
            <a:gdLst/>
            <a:ahLst/>
            <a:cxnLst/>
            <a:rect r="r" b="b" t="t" l="l"/>
            <a:pathLst>
              <a:path h="5550767" w="10836686">
                <a:moveTo>
                  <a:pt x="0" y="0"/>
                </a:moveTo>
                <a:lnTo>
                  <a:pt x="10836685" y="0"/>
                </a:lnTo>
                <a:lnTo>
                  <a:pt x="10836685" y="5550767"/>
                </a:lnTo>
                <a:lnTo>
                  <a:pt x="0" y="55507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92900" y="1774145"/>
            <a:ext cx="7988915" cy="77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50"/>
              </a:lnSpc>
            </a:pPr>
            <a:r>
              <a:rPr lang="en-US" b="true" sz="5000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FACEBOOK ADS: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0065" y="4289307"/>
            <a:ext cx="4984530" cy="276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</a:t>
            </a:r>
            <a:r>
              <a:rPr lang="en-US" sz="1982" b="true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Lưu ý cho capture Facebook ads:</a:t>
            </a: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Khoanh các mục sau: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ID tài khoản quảng cáo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Thời gian chạy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Quảng cáo đang hoạt động</a:t>
            </a:r>
          </a:p>
          <a:p>
            <a:pPr algn="l">
              <a:lnSpc>
                <a:spcPts val="372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66443" y="8976716"/>
            <a:ext cx="9321700" cy="2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*Demo: Lưu ý chụp đầy đủ thông tin các chiến dich, đủ ID TK QC và NS trong kỳ báo cáo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27293" y="2342529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30551" y="3579022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8959" y="6697565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1" id="11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50243" y="4875844"/>
            <a:ext cx="2413378" cy="2413378"/>
          </a:xfrm>
          <a:custGeom>
            <a:avLst/>
            <a:gdLst/>
            <a:ahLst/>
            <a:cxnLst/>
            <a:rect r="r" b="b" t="t" l="l"/>
            <a:pathLst>
              <a:path h="2413378" w="2413378">
                <a:moveTo>
                  <a:pt x="0" y="0"/>
                </a:moveTo>
                <a:lnTo>
                  <a:pt x="2413377" y="0"/>
                </a:lnTo>
                <a:lnTo>
                  <a:pt x="2413377" y="2413377"/>
                </a:lnTo>
                <a:lnTo>
                  <a:pt x="0" y="24133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86047" y="3391096"/>
            <a:ext cx="3741769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TIKTOK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7" id="7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41020" y="3970866"/>
          <a:ext cx="17417446" cy="3697842"/>
        </p:xfrm>
        <a:graphic>
          <a:graphicData uri="http://schemas.openxmlformats.org/drawingml/2006/table">
            <a:tbl>
              <a:tblPr/>
              <a:tblGrid>
                <a:gridCol w="1451454"/>
                <a:gridCol w="1451454"/>
                <a:gridCol w="1451454"/>
                <a:gridCol w="2368338"/>
                <a:gridCol w="1024814"/>
                <a:gridCol w="1514306"/>
                <a:gridCol w="1489165"/>
                <a:gridCol w="1501735"/>
                <a:gridCol w="1325750"/>
                <a:gridCol w="1174905"/>
                <a:gridCol w="1212616"/>
                <a:gridCol w="1451454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Nền tảng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 thực chạy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Chi phí thực chạy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+ gồm phí nền tảng)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Impressions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(hiển thị)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Reach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(tiếp cận)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Frequency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(tần suất)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Lượt nhấp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CTR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CPM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Lượt xem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808972" y="5819787"/>
            <a:ext cx="999888" cy="999888"/>
          </a:xfrm>
          <a:custGeom>
            <a:avLst/>
            <a:gdLst/>
            <a:ahLst/>
            <a:cxnLst/>
            <a:rect r="r" b="b" t="t" l="l"/>
            <a:pathLst>
              <a:path h="999888" w="999888">
                <a:moveTo>
                  <a:pt x="0" y="0"/>
                </a:moveTo>
                <a:lnTo>
                  <a:pt x="999888" y="0"/>
                </a:lnTo>
                <a:lnTo>
                  <a:pt x="999888" y="999888"/>
                </a:lnTo>
                <a:lnTo>
                  <a:pt x="0" y="9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6550" y="2462681"/>
            <a:ext cx="7829713" cy="116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TIKTOK ADS: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0" id="10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209311"/>
            <a:ext cx="11843890" cy="5735947"/>
          </a:xfrm>
          <a:custGeom>
            <a:avLst/>
            <a:gdLst/>
            <a:ahLst/>
            <a:cxnLst/>
            <a:rect r="r" b="b" t="t" l="l"/>
            <a:pathLst>
              <a:path h="5735947" w="11843890">
                <a:moveTo>
                  <a:pt x="0" y="0"/>
                </a:moveTo>
                <a:lnTo>
                  <a:pt x="11843890" y="0"/>
                </a:lnTo>
                <a:lnTo>
                  <a:pt x="11843890" y="5735947"/>
                </a:lnTo>
                <a:lnTo>
                  <a:pt x="0" y="57359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877980"/>
            <a:ext cx="6471157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TIKTOK ADS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448800"/>
            <a:ext cx="9321700" cy="2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*Demo: Lưu ý chụp đầy đủ thông tin các chiến dich, đủ ID TK QC và NS trong kỳ báo cáo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51611" y="4629554"/>
            <a:ext cx="4683338" cy="2762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</a:t>
            </a:r>
            <a:r>
              <a:rPr lang="en-US" sz="1982" b="true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Lưu ý cho capture Tiktok ads:</a:t>
            </a: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Khoanh các mục sau: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ID tài khoản quảng cáo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Search tên c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hiến dịch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Tổng số tiền thực chạy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Thời gian chạy (Nghiệm thu)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0492" y="2639417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01299" y="4063573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31124" y="7671219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35624" y="4063573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6" id="16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357147"/>
            <a:ext cx="10672639" cy="5440274"/>
          </a:xfrm>
          <a:custGeom>
            <a:avLst/>
            <a:gdLst/>
            <a:ahLst/>
            <a:cxnLst/>
            <a:rect r="r" b="b" t="t" l="l"/>
            <a:pathLst>
              <a:path h="5440274" w="10672639">
                <a:moveTo>
                  <a:pt x="0" y="0"/>
                </a:moveTo>
                <a:lnTo>
                  <a:pt x="10672639" y="0"/>
                </a:lnTo>
                <a:lnTo>
                  <a:pt x="10672639" y="5440274"/>
                </a:lnTo>
                <a:lnTo>
                  <a:pt x="0" y="54402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877980"/>
            <a:ext cx="6471157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TIKTOK ADS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448800"/>
            <a:ext cx="9321700" cy="2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*Demo: Lưu ý chụp đầy đủ thông tin các chiến dich, đủ ID TK QC và NS trong kỳ báo cáo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75962" y="5010150"/>
            <a:ext cx="4683338" cy="182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</a:t>
            </a:r>
            <a:r>
              <a:rPr lang="en-US" sz="1982" b="true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Lưu ý cho capture Tiktok ads:</a:t>
            </a: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Khoanh các mục sau: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ID tài khoản quảng cáo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Quảng cáo chạy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21848" y="2784734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63972" y="4444169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4" id="14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67474" y="4551012"/>
            <a:ext cx="2050667" cy="2050667"/>
          </a:xfrm>
          <a:custGeom>
            <a:avLst/>
            <a:gdLst/>
            <a:ahLst/>
            <a:cxnLst/>
            <a:rect r="r" b="b" t="t" l="l"/>
            <a:pathLst>
              <a:path h="2050667" w="2050667">
                <a:moveTo>
                  <a:pt x="0" y="0"/>
                </a:moveTo>
                <a:lnTo>
                  <a:pt x="2050667" y="0"/>
                </a:lnTo>
                <a:lnTo>
                  <a:pt x="2050667" y="2050667"/>
                </a:lnTo>
                <a:lnTo>
                  <a:pt x="0" y="2050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63609" y="3390114"/>
            <a:ext cx="2760782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ZALO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7" id="7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41020" y="3970866"/>
          <a:ext cx="17417446" cy="3697842"/>
        </p:xfrm>
        <a:graphic>
          <a:graphicData uri="http://schemas.openxmlformats.org/drawingml/2006/table">
            <a:tbl>
              <a:tblPr/>
              <a:tblGrid>
                <a:gridCol w="1451454"/>
                <a:gridCol w="1451454"/>
                <a:gridCol w="1451454"/>
                <a:gridCol w="2368338"/>
                <a:gridCol w="1024814"/>
                <a:gridCol w="1514306"/>
                <a:gridCol w="1489165"/>
                <a:gridCol w="1501735"/>
                <a:gridCol w="1325750"/>
                <a:gridCol w="1174905"/>
                <a:gridCol w="1212616"/>
                <a:gridCol w="1451454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Nền tảng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 thực chạy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Chi phí thực chạy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+ gồm phí nền tảng)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Impressions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(hiển thị)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Reach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(tiếp cận)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Frequency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(tần suất)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Lượt nhấp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CTR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CPM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Lượt xem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719327" y="5772618"/>
            <a:ext cx="1162226" cy="1162226"/>
          </a:xfrm>
          <a:custGeom>
            <a:avLst/>
            <a:gdLst/>
            <a:ahLst/>
            <a:cxnLst/>
            <a:rect r="r" b="b" t="t" l="l"/>
            <a:pathLst>
              <a:path h="1162226" w="1162226">
                <a:moveTo>
                  <a:pt x="0" y="0"/>
                </a:moveTo>
                <a:lnTo>
                  <a:pt x="1162226" y="0"/>
                </a:lnTo>
                <a:lnTo>
                  <a:pt x="1162226" y="1162227"/>
                </a:lnTo>
                <a:lnTo>
                  <a:pt x="0" y="1162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6550" y="2462681"/>
            <a:ext cx="7829713" cy="116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ZALO ADS: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0" id="10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8810" y="3474034"/>
            <a:ext cx="11781844" cy="5206500"/>
          </a:xfrm>
          <a:custGeom>
            <a:avLst/>
            <a:gdLst/>
            <a:ahLst/>
            <a:cxnLst/>
            <a:rect r="r" b="b" t="t" l="l"/>
            <a:pathLst>
              <a:path h="5206500" w="11781844">
                <a:moveTo>
                  <a:pt x="0" y="0"/>
                </a:moveTo>
                <a:lnTo>
                  <a:pt x="11781845" y="0"/>
                </a:lnTo>
                <a:lnTo>
                  <a:pt x="11781845" y="5206500"/>
                </a:lnTo>
                <a:lnTo>
                  <a:pt x="0" y="5206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877980"/>
            <a:ext cx="6471157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ZALO ADS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448800"/>
            <a:ext cx="9321700" cy="2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*Demo: Lưu ý chụp đầy đủ thông tin các chiến dich, đủ ID TK QC và NS trong kỳ báo cáo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61257" y="4640128"/>
            <a:ext cx="4683338" cy="229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</a:t>
            </a:r>
            <a:r>
              <a:rPr lang="en-US" sz="1982" b="true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Lưu ý cho capture Zalo ads:</a:t>
            </a: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Khoanh các mục sau: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Search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 tên c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hiến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Tổng số tiền thực chạy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Thời gian chạy ( Nghiệm thu)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8494" y="3775238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2576" y="4587973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31125" y="3560582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5" id="15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093857"/>
            <a:ext cx="11859869" cy="6079228"/>
          </a:xfrm>
          <a:custGeom>
            <a:avLst/>
            <a:gdLst/>
            <a:ahLst/>
            <a:cxnLst/>
            <a:rect r="r" b="b" t="t" l="l"/>
            <a:pathLst>
              <a:path h="6079228" w="11859869">
                <a:moveTo>
                  <a:pt x="0" y="0"/>
                </a:moveTo>
                <a:lnTo>
                  <a:pt x="11859869" y="0"/>
                </a:lnTo>
                <a:lnTo>
                  <a:pt x="11859869" y="6079228"/>
                </a:lnTo>
                <a:lnTo>
                  <a:pt x="0" y="60792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877980"/>
            <a:ext cx="6471157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ZALO ADS: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448800"/>
            <a:ext cx="9321700" cy="2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*Demo: Lưu ý chụp đầy đủ thông tin các chiến dich, đủ ID TK QC và NS trong kỳ báo cáo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54171" y="4854508"/>
            <a:ext cx="4683338" cy="229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</a:t>
            </a:r>
            <a:r>
              <a:rPr lang="en-US" sz="1982" b="true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Lưu ý cho capture Zalo ads:</a:t>
            </a: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Khoanh các mục sau: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ID tài khoản quảng cáo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Thời gian chạy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Quảng cáo đang hoạt động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35615" y="2884307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35284" y="4689059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8584" y="8218129"/>
            <a:ext cx="363332" cy="6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9"/>
              </a:lnSpc>
            </a:pPr>
            <a:r>
              <a:rPr lang="en-US" b="true" sz="3287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5" id="15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98810" y="4728478"/>
            <a:ext cx="1930604" cy="1930604"/>
          </a:xfrm>
          <a:custGeom>
            <a:avLst/>
            <a:gdLst/>
            <a:ahLst/>
            <a:cxnLst/>
            <a:rect r="r" b="b" t="t" l="l"/>
            <a:pathLst>
              <a:path h="1930604" w="1930604">
                <a:moveTo>
                  <a:pt x="0" y="0"/>
                </a:moveTo>
                <a:lnTo>
                  <a:pt x="1930604" y="0"/>
                </a:lnTo>
                <a:lnTo>
                  <a:pt x="1930604" y="1930604"/>
                </a:lnTo>
                <a:lnTo>
                  <a:pt x="0" y="1930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01374" y="3316431"/>
            <a:ext cx="4125476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GOOGLE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7" id="7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41020" y="3970866"/>
          <a:ext cx="17417446" cy="3697842"/>
        </p:xfrm>
        <a:graphic>
          <a:graphicData uri="http://schemas.openxmlformats.org/drawingml/2006/table">
            <a:tbl>
              <a:tblPr/>
              <a:tblGrid>
                <a:gridCol w="1451454"/>
                <a:gridCol w="1451454"/>
                <a:gridCol w="1451454"/>
                <a:gridCol w="2368338"/>
                <a:gridCol w="1024814"/>
                <a:gridCol w="1514306"/>
                <a:gridCol w="1489165"/>
                <a:gridCol w="1501735"/>
                <a:gridCol w="1325750"/>
                <a:gridCol w="1174905"/>
                <a:gridCol w="1212616"/>
                <a:gridCol w="1451454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Nền tảng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 thực chạy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Chi phí thực chạy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+ gồm phí nền tảng)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Impressions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(hiển thị)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Reach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(tiếp cận)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Frequency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(tần suất)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Lượt nhấp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CTR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CPM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Lượt xem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880223" y="6109638"/>
            <a:ext cx="751556" cy="751556"/>
          </a:xfrm>
          <a:custGeom>
            <a:avLst/>
            <a:gdLst/>
            <a:ahLst/>
            <a:cxnLst/>
            <a:rect r="r" b="b" t="t" l="l"/>
            <a:pathLst>
              <a:path h="751556" w="751556">
                <a:moveTo>
                  <a:pt x="0" y="0"/>
                </a:moveTo>
                <a:lnTo>
                  <a:pt x="751556" y="0"/>
                </a:lnTo>
                <a:lnTo>
                  <a:pt x="751556" y="751556"/>
                </a:lnTo>
                <a:lnTo>
                  <a:pt x="0" y="751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6550" y="2462681"/>
            <a:ext cx="7829713" cy="116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BÁO CÁO TỔNG: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0" id="10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5582" y="3332418"/>
            <a:ext cx="11732401" cy="5481735"/>
          </a:xfrm>
          <a:custGeom>
            <a:avLst/>
            <a:gdLst/>
            <a:ahLst/>
            <a:cxnLst/>
            <a:rect r="r" b="b" t="t" l="l"/>
            <a:pathLst>
              <a:path h="5481735" w="11732401">
                <a:moveTo>
                  <a:pt x="0" y="0"/>
                </a:moveTo>
                <a:lnTo>
                  <a:pt x="11732400" y="0"/>
                </a:lnTo>
                <a:lnTo>
                  <a:pt x="11732400" y="5481735"/>
                </a:lnTo>
                <a:lnTo>
                  <a:pt x="0" y="5481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877980"/>
            <a:ext cx="6471157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GOOGLE ADS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448800"/>
            <a:ext cx="9321700" cy="2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*Demo: Lưu ý chụp đầy đủ thông tin các chiến dich, đủ ID TK QC và NS trong kỳ báo cáo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86969" y="4158889"/>
            <a:ext cx="4683338" cy="322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</a:t>
            </a:r>
            <a:r>
              <a:rPr lang="en-US" sz="1982" b="true">
                <a:gradFill>
                  <a:gsLst>
                    <a:gs pos="0">
                      <a:srgbClr val="E40B11">
                        <a:alpha val="100000"/>
                      </a:srgbClr>
                    </a:gs>
                    <a:gs pos="100000">
                      <a:srgbClr val="A41011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Lưu ý cho capture Google ads:</a:t>
            </a:r>
            <a:r>
              <a:rPr lang="en-US" sz="1982" b="true">
                <a:solidFill>
                  <a:srgbClr val="885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Khoanh các mục sau: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ID tài khoản quảng cáo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Search tên chiến dịch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Tổng số tiền thực chạy</a:t>
            </a:r>
          </a:p>
          <a:p>
            <a:pPr algn="l" marL="428078" indent="-214039" lvl="1">
              <a:lnSpc>
                <a:spcPts val="3727"/>
              </a:lnSpc>
              <a:buAutoNum type="arabicPeriod" startAt="1"/>
            </a:pPr>
            <a:r>
              <a:rPr lang="en-US" sz="1982">
                <a:solidFill>
                  <a:srgbClr val="885E1E"/>
                </a:solidFill>
                <a:latin typeface="Montserrat"/>
                <a:ea typeface="Montserrat"/>
                <a:cs typeface="Montserrat"/>
                <a:sym typeface="Montserrat"/>
              </a:rPr>
              <a:t>Thời gian chạy</a:t>
            </a:r>
          </a:p>
          <a:p>
            <a:pPr algn="l">
              <a:lnSpc>
                <a:spcPts val="3727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12" id="12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59958" y="2268936"/>
            <a:ext cx="7443276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KÊNH ĐĂNG TIN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6" id="6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779" y="1851575"/>
            <a:ext cx="14850305" cy="1242282"/>
            <a:chOff x="0" y="0"/>
            <a:chExt cx="19800407" cy="16563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14300"/>
              <a:ext cx="19800407" cy="1555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5"/>
                </a:lnSpc>
                <a:spcBef>
                  <a:spcPct val="0"/>
                </a:spcBef>
              </a:pPr>
              <a:r>
                <a:rPr lang="en-US" b="true" sz="7105">
                  <a:gradFill>
                    <a:gsLst>
                      <a:gs pos="0">
                        <a:srgbClr val="E40B11">
                          <a:alpha val="100000"/>
                        </a:srgbClr>
                      </a:gs>
                      <a:gs pos="100000">
                        <a:srgbClr val="A41011">
                          <a:alpha val="100000"/>
                        </a:srgbClr>
                      </a:gs>
                    </a:gsLst>
                    <a:lin ang="0"/>
                  </a:gra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REVIEW CHIẾN DỊCH CASAMIA BALANCA HOI AN-TATI INVEST </a:t>
              </a:r>
              <a:r>
                <a:rPr lang="en-US" b="true" sz="7105">
                  <a:solidFill>
                    <a:srgbClr val="007348"/>
                  </a:solidFill>
                  <a:latin typeface="Heading Now 31-38 Bold"/>
                  <a:ea typeface="Heading Now 31-38 Bold"/>
                  <a:cs typeface="Heading Now 31-38 Bold"/>
                  <a:sym typeface="Heading Now 31-38 Bold"/>
                </a:rPr>
                <a:t>ĐỢT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4480593" y="1335044"/>
              <a:ext cx="5319813" cy="321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2"/>
                </a:lnSpc>
              </a:pPr>
              <a:r>
                <a:rPr lang="en-US" b="true" sz="1480" i="true">
                  <a:solidFill>
                    <a:srgbClr val="131450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Thời gian triển khai: 15/09 - 27/09/2026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41020" y="3970866"/>
          <a:ext cx="17417446" cy="3697842"/>
        </p:xfrm>
        <a:graphic>
          <a:graphicData uri="http://schemas.openxmlformats.org/drawingml/2006/table">
            <a:tbl>
              <a:tblPr/>
              <a:tblGrid>
                <a:gridCol w="2351470"/>
                <a:gridCol w="2351470"/>
                <a:gridCol w="2351470"/>
                <a:gridCol w="3836895"/>
                <a:gridCol w="1660280"/>
                <a:gridCol w="2453295"/>
                <a:gridCol w="2412565"/>
              </a:tblGrid>
              <a:tr h="14169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Nền tảng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ID tài khoản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Ngân sách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Chi phí thực chạy 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 + gồm phí nền tảng)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Reach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(tiếp cận)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Impressions</a:t>
                      </a:r>
                      <a:endParaRPr lang="en-US" sz="1100"/>
                    </a:p>
                    <a:p>
                      <a:pPr algn="ctr">
                        <a:lnSpc>
                          <a:spcPts val="1766"/>
                        </a:lnSpc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(hiển thị)</a:t>
                      </a:r>
                    </a:p>
                    <a:p>
                      <a:pPr algn="ctr">
                        <a:lnSpc>
                          <a:spcPts val="1766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66"/>
                        </a:lnSpc>
                        <a:defRPr/>
                      </a:pPr>
                      <a:r>
                        <a:rPr lang="en-US" sz="1261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Lead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309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26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8" id="8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6892" r="0" b="-3594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96550" y="2462681"/>
            <a:ext cx="7829713" cy="116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BÁO CÁO TỔNG: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5" id="5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973751" y="2700917"/>
            <a:ext cx="7758257" cy="7231093"/>
          </a:xfrm>
          <a:custGeom>
            <a:avLst/>
            <a:gdLst/>
            <a:ahLst/>
            <a:cxnLst/>
            <a:rect r="r" b="b" t="t" l="l"/>
            <a:pathLst>
              <a:path h="7231093" w="7758257">
                <a:moveTo>
                  <a:pt x="0" y="0"/>
                </a:moveTo>
                <a:lnTo>
                  <a:pt x="7758257" y="0"/>
                </a:lnTo>
                <a:lnTo>
                  <a:pt x="7758257" y="7231094"/>
                </a:lnTo>
                <a:lnTo>
                  <a:pt x="0" y="72310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2730" y="1809045"/>
            <a:ext cx="9822319" cy="743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69"/>
              </a:lnSpc>
            </a:pPr>
            <a:r>
              <a:rPr lang="en-US" b="true" sz="4775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CAPTURE MÀN HÌNH ĐĂNG TIN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4895"/>
            <a:ext cx="18288000" cy="12496790"/>
          </a:xfrm>
          <a:custGeom>
            <a:avLst/>
            <a:gdLst/>
            <a:ahLst/>
            <a:cxnLst/>
            <a:rect r="r" b="b" t="t" l="l"/>
            <a:pathLst>
              <a:path h="12496790" w="18288000">
                <a:moveTo>
                  <a:pt x="0" y="0"/>
                </a:moveTo>
                <a:lnTo>
                  <a:pt x="18288000" y="0"/>
                </a:lnTo>
                <a:lnTo>
                  <a:pt x="18288000" y="12496790"/>
                </a:lnTo>
                <a:lnTo>
                  <a:pt x="0" y="124967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67" t="0" r="-16087" b="-71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18559">
            <a:off x="-2699279" y="-2608377"/>
            <a:ext cx="15166206" cy="19087902"/>
          </a:xfrm>
          <a:custGeom>
            <a:avLst/>
            <a:gdLst/>
            <a:ahLst/>
            <a:cxnLst/>
            <a:rect r="r" b="b" t="t" l="l"/>
            <a:pathLst>
              <a:path h="19087902" w="15166206">
                <a:moveTo>
                  <a:pt x="0" y="0"/>
                </a:moveTo>
                <a:lnTo>
                  <a:pt x="15166206" y="0"/>
                </a:lnTo>
                <a:lnTo>
                  <a:pt x="15166206" y="19087902"/>
                </a:lnTo>
                <a:lnTo>
                  <a:pt x="0" y="1908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11567" y="4548764"/>
            <a:ext cx="6471157" cy="116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28"/>
              </a:lnSpc>
            </a:pPr>
            <a:r>
              <a:rPr lang="en-US" b="true" sz="7462">
                <a:solidFill>
                  <a:srgbClr val="885E1E"/>
                </a:solidFill>
                <a:latin typeface="Google Sans Flex 120pt Bold"/>
                <a:ea typeface="Google Sans Flex 120pt Bold"/>
                <a:cs typeface="Google Sans Flex 120pt Bold"/>
                <a:sym typeface="Google Sans Flex 120pt Bold"/>
              </a:rPr>
              <a:t>THANK YOU!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41020" y="655690"/>
            <a:ext cx="17103575" cy="516364"/>
            <a:chOff x="0" y="0"/>
            <a:chExt cx="22804767" cy="688485"/>
          </a:xfrm>
        </p:grpSpPr>
        <p:sp>
          <p:nvSpPr>
            <p:cNvPr name="AutoShape 6" id="6"/>
            <p:cNvSpPr/>
            <p:nvPr/>
          </p:nvSpPr>
          <p:spPr>
            <a:xfrm>
              <a:off x="136513" y="675785"/>
              <a:ext cx="22668253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EF7A48">
                      <a:alpha val="100000"/>
                    </a:srgbClr>
                  </a:gs>
                  <a:gs pos="100000">
                    <a:srgbClr val="F42C2C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167481" y="214222"/>
              <a:ext cx="305858" cy="211042"/>
            </a:xfrm>
            <a:custGeom>
              <a:avLst/>
              <a:gdLst/>
              <a:ahLst/>
              <a:cxnLst/>
              <a:rect r="r" b="b" t="t" l="l"/>
              <a:pathLst>
                <a:path h="211042" w="305858">
                  <a:moveTo>
                    <a:pt x="0" y="0"/>
                  </a:moveTo>
                  <a:lnTo>
                    <a:pt x="305858" y="0"/>
                  </a:lnTo>
                  <a:lnTo>
                    <a:pt x="305858" y="211042"/>
                  </a:lnTo>
                  <a:lnTo>
                    <a:pt x="0" y="21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614561" y="125680"/>
              <a:ext cx="5446639" cy="35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Email: marketing.tatiland@gmail.com       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9294435" y="174546"/>
              <a:ext cx="290393" cy="290393"/>
            </a:xfrm>
            <a:custGeom>
              <a:avLst/>
              <a:gdLst/>
              <a:ahLst/>
              <a:cxnLst/>
              <a:rect r="r" b="b" t="t" l="l"/>
              <a:pathLst>
                <a:path h="290393" w="290393">
                  <a:moveTo>
                    <a:pt x="0" y="0"/>
                  </a:moveTo>
                  <a:lnTo>
                    <a:pt x="290393" y="0"/>
                  </a:lnTo>
                  <a:lnTo>
                    <a:pt x="290393" y="290393"/>
                  </a:lnTo>
                  <a:lnTo>
                    <a:pt x="0" y="290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673226" y="119230"/>
              <a:ext cx="3095148" cy="365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26"/>
                </a:lnSpc>
                <a:spcBef>
                  <a:spcPct val="0"/>
                </a:spcBef>
              </a:pPr>
              <a:r>
                <a:rPr lang="en-US" sz="1661">
                  <a:solidFill>
                    <a:srgbClr val="A5752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Hotline: 090 580 88 18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36668" cy="688485"/>
            </a:xfrm>
            <a:custGeom>
              <a:avLst/>
              <a:gdLst/>
              <a:ahLst/>
              <a:cxnLst/>
              <a:rect r="r" b="b" t="t" l="l"/>
              <a:pathLst>
                <a:path h="688485" w="2536668">
                  <a:moveTo>
                    <a:pt x="0" y="0"/>
                  </a:moveTo>
                  <a:lnTo>
                    <a:pt x="2536668" y="0"/>
                  </a:lnTo>
                  <a:lnTo>
                    <a:pt x="2536668" y="688485"/>
                  </a:lnTo>
                  <a:lnTo>
                    <a:pt x="0" y="688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6892" r="0" b="-3594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DAHYIn3865s</dc:identifier>
  <dcterms:modified xsi:type="dcterms:W3CDTF">2011-08-01T06:04:30Z</dcterms:modified>
  <cp:revision>1</cp:revision>
  <dc:title>COLLECTION_BÁO CÁO MARKETING THEO TUẦN</dc:title>
</cp:coreProperties>
</file>